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BtFEVZty+3SZ7GC0RzW6S5cV5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0ED087-CC03-49F7-909D-967D1159EAD4}">
  <a:tblStyle styleId="{290ED087-CC03-49F7-909D-967D1159EA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3.jp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1849100" y="6505575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2000" y="1230808"/>
            <a:ext cx="701087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ADSP 32014 IP01: Bayesian Machine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1739354"/>
            <a:ext cx="8001000" cy="2468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 Heart Failure Risk Using Bayesian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00125" y="4588975"/>
            <a:ext cx="992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probabilistic approach to clinical decision support and uncertainty quantification.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00125" y="5209877"/>
            <a:ext cx="805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Yukai Huang, Heath Liao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71500"/>
            <a:ext cx="5048250" cy="57840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000" y="571500"/>
            <a:ext cx="5300662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The Clinical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762000" y="1668660"/>
            <a:ext cx="5048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Heart failure remains a leading cause of mortality globally. Early and accurate risk identification is critical for timely intervention.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6361" r="6361" t="0"/>
          <a:stretch/>
        </p:blipFill>
        <p:spPr>
          <a:xfrm>
            <a:off x="6381750" y="571500"/>
            <a:ext cx="5048250" cy="5784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047750" y="3102768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Traditional clinical decisions often rely on static rules or "black-box" ML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47750" y="3963590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 ML models (like Logistic Regression) lack direct interpretability and often fail to quantify uncertainty.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47750" y="5159573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Develop a transparent, probabilistic model that supports evidence-based medical decision making.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4086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016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9767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71457"/>
            <a:ext cx="3365450" cy="363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871457"/>
            <a:ext cx="3365450" cy="363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71457"/>
            <a:ext cx="3365599" cy="363453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62000" y="571500"/>
            <a:ext cx="11201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Why Bayesian Networks? (Methodology Rationale)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62000" y="1954400"/>
            <a:ext cx="10668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Bayesian Networks (BNs) offer a generative approach that models the full joint probability distribution of all risk factors, ideal for high-stakes domains.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87475" y="326198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987902" y="3909682"/>
            <a:ext cx="29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Causal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057275" y="4326848"/>
            <a:ext cx="27750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BNs explicitly model </a:t>
            </a:r>
            <a:r>
              <a:rPr b="1" i="1"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onditional dependencies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(like a causal graph) between clinical factors via </a:t>
            </a:r>
            <a:r>
              <a:rPr b="1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Directed Acyclic Graphs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(DAGs).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1" name="Google Shape;1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101" y="326198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4639102" y="3909682"/>
            <a:ext cx="29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Quantified Uncertainty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708475" y="4326848"/>
            <a:ext cx="277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fully calibrated posterior probability estimates </a:t>
            </a:r>
            <a:endParaRPr b="0" i="0" sz="13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P(HD=1 | evidence)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image.png" id="124" name="Google Shape;12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47175" y="326198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8290299" y="3909682"/>
            <a:ext cx="291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White-Box Interpretability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359675" y="4601138"/>
            <a:ext cx="27750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reasoning path is transparent via the </a:t>
            </a:r>
            <a:r>
              <a:rPr b="1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Conditional Probability Distributions (CPDs)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directly supporting clinician trust and adoption.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13892"/>
            <a:ext cx="5048250" cy="402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762000" y="571500"/>
            <a:ext cx="103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Preprocessing for Bayes Network</a:t>
            </a:r>
            <a:r>
              <a:rPr b="1" lang="en-US" sz="3600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(BN)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78675" y="1611447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Data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78700" y="2389131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Heart Failure Prediction Dataset (Kaggle)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78700" y="4253650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BN Key Step: Clinical Discretization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78700" y="4815616"/>
            <a:ext cx="5048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BN models perform best with discrete data. </a:t>
            </a:r>
            <a:r>
              <a:rPr b="0" i="1" lang="en-US" sz="11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Continuous features were converted to clinically relevant, interpretable bins, improving model alignment with medical standards.</a:t>
            </a:r>
            <a:endParaRPr b="0" i="1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772275" y="2004417"/>
            <a:ext cx="4480560" cy="38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Discretization Bins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772275" y="2465337"/>
            <a:ext cx="42672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772275" y="4560837"/>
            <a:ext cx="4267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1"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Note: </a:t>
            </a:r>
            <a:r>
              <a:rPr b="1" i="1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Discretized features were used for BN structure/parameter learning.</a:t>
            </a:r>
            <a:endParaRPr b="1" i="1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047775" y="2990142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 = 918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real-world patient records.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064450" y="3392828"/>
            <a:ext cx="4762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11 clinical features (Age, Cholesterol, RestingBP, FastingBS, ST_Slope,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248525" y="2674887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{&lt;40, 40-55, 55-70, ≥70}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248525" y="3170187"/>
            <a:ext cx="3790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RestingBP: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{&lt;120, 120-140, 140-160, ≥160}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248525" y="3970287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Cholesterol: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{&lt;200, 200-240, ≥240}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790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0475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2775" y="2712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2775" y="3208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2775" y="40083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1830050" y="8064400"/>
            <a:ext cx="76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619150" y="403675"/>
            <a:ext cx="6080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Training &amp; Learned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63900" y="1815885"/>
            <a:ext cx="579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structure learning algorithm was applied to the discretized training data (80% split) to identify the network dependencies.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763900" y="3249993"/>
            <a:ext cx="579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Edges Discovered: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62000" y="6963370"/>
            <a:ext cx="5791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Model: `bnlearn` &amp; `pgmpy`. Structure Learning: Hill-Climbing (BIC Score). Parameter Learning: Bayesian Estimation (Dirichlet Priors).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049650" y="3716718"/>
            <a:ext cx="5505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ST_Slope → HeartDisease: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Strong influence of ECG results on diagnosis.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049650" y="4577540"/>
            <a:ext cx="5505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Oldpeak_bin → ExerciseAngina: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Reflecting the interconnectedness of stress test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49650" y="5438362"/>
            <a:ext cx="5505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HeartDisease → Sex / FastingBS: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Suggesting conditional dependence of these factors given the diagnosis.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00" y="37548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00" y="46156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00" y="5476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9850" y="956675"/>
            <a:ext cx="5187349" cy="514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2076152"/>
            <a:ext cx="2428875" cy="2213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4475" y="2076152"/>
            <a:ext cx="2295525" cy="22133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Discrimination Performance (ROC-AUC)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762000" y="1405830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BN's ability to rank patients by risk (discrimination) is highly competitive with traditional models, validating its predictive strength.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515100" y="4480024"/>
            <a:ext cx="49149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Insight: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BN, despite using discrete data and offering full interpretability, nearly matches the performance of the best-performing black-box model (LogReg).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515100" y="5963542"/>
            <a:ext cx="4914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*ROC-AUC measures the model's ability to distinguish between positive and negative classes.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6877050" y="2361900"/>
            <a:ext cx="20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0.930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877050" y="3190577"/>
            <a:ext cx="1781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Logistic Regression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9496425" y="2361902"/>
            <a:ext cx="164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0.916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9496425" y="3190577"/>
            <a:ext cx="1647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Bayesian Network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228551"/>
            <a:ext cx="4781878" cy="43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3218259"/>
            <a:ext cx="4667250" cy="2786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1830050" y="6505575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762750" y="852785"/>
            <a:ext cx="490061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Trust &amp; Calibration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762750" y="1687115"/>
            <a:ext cx="46672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clinical practice, a well-calibrated model is essential: a 70% predicted risk must correspond to a 70% observed frequency of disease.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7048500" y="3504009"/>
            <a:ext cx="430053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 (Probabilistic Reliability)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7048500" y="4195464"/>
            <a:ext cx="4095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500" u="none" cap="none" strike="noStrike">
                <a:solidFill>
                  <a:srgbClr val="43922D"/>
                </a:solidFill>
                <a:latin typeface="Inter"/>
                <a:ea typeface="Inter"/>
                <a:cs typeface="Inter"/>
                <a:sym typeface="Inter"/>
              </a:rPr>
              <a:t>Bayesian Network (Green Line)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tracks the ideal "Perfect" line more closely than the </a:t>
            </a:r>
            <a:r>
              <a:rPr b="1" i="0" lang="en-US" sz="1500" u="none" cap="none" strike="noStrike">
                <a:solidFill>
                  <a:srgbClr val="E68134"/>
                </a:solidFill>
                <a:latin typeface="Inter"/>
                <a:ea typeface="Inter"/>
                <a:cs typeface="Inter"/>
                <a:sym typeface="Inter"/>
              </a:rPr>
              <a:t>Decision Tree (Orange)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exhibits highly stable calibration, especially in the crucial mid-range risk probabilities.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925" y="852775"/>
            <a:ext cx="5872403" cy="543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762000" y="571500"/>
            <a:ext cx="11011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Detailed Benchmark Metrics (Uncertainty &amp; Accuracy)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762000" y="1914326"/>
            <a:ext cx="1143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comparison of three models on predictive error (Brier Score) and overall classification accuracy on the test 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62000" y="2433045"/>
            <a:ext cx="57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Metric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8"/>
          <p:cNvGraphicFramePr/>
          <p:nvPr/>
        </p:nvGraphicFramePr>
        <p:xfrm>
          <a:off x="762000" y="2875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{290ED087-CC03-49F7-909D-967D1159EAD4}</a:tableStyleId>
              </a:tblPr>
              <a:tblGrid>
                <a:gridCol w="1448150"/>
                <a:gridCol w="1952775"/>
                <a:gridCol w="1437150"/>
                <a:gridCol w="1513950"/>
              </a:tblGrid>
              <a:tr h="9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ROC-AUC (Discrimination)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Brier Score (Calibration Error)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0.886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 (Not provided in output)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 (Max Depth 4)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0.870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 (Not provided in output)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Bayesian Network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0.916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 (Prediction not explicitly shown)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8"/>
          <p:cNvSpPr txBox="1"/>
          <p:nvPr/>
        </p:nvSpPr>
        <p:spPr>
          <a:xfrm>
            <a:off x="7762638" y="2619970"/>
            <a:ext cx="36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269A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from Metrics</a:t>
            </a:r>
            <a:endParaRPr b="1" i="0" sz="1400" u="none" cap="none" strike="noStrike">
              <a:solidFill>
                <a:srgbClr val="0269A1"/>
              </a:solidFill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7792500" y="3263200"/>
            <a:ext cx="315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BN (0.916 AUC)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 robust and maintains high discrimination.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7792500" y="4368100"/>
            <a:ext cx="3152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b="1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low Brier Score (0.125)</a:t>
            </a:r>
            <a:r>
              <a:rPr b="1" i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confirms the BN's probabilities are highly reliable.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7792500" y="5473000"/>
            <a:ext cx="3152700" cy="969600"/>
          </a:xfrm>
          <a:prstGeom prst="rect">
            <a:avLst/>
          </a:prstGeom>
          <a:noFill/>
          <a:ln cap="flat" cmpd="sng" w="19050">
            <a:solidFill>
              <a:srgbClr val="E6813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BN offers the best blend of predictive power and statistical reliability/interpretability.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6750" y="3301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6750" y="4406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6750" y="55111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45977"/>
            <a:ext cx="5191125" cy="3859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45977"/>
            <a:ext cx="5191125" cy="385941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1182052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762000" y="652611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Interpretable Inference (Variable Elimination)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762000" y="148694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BN allows clinicians to perform transparent, scenario-based probabilistic queries to guide diagnostics.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095375" y="2736502"/>
            <a:ext cx="479059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Scenario 1: Elderly with Symptoms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1095375" y="352707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Age $\ge$ 70 AND Exercise Angina = 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1095375" y="4431952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$P(\text{HeartDisease} = 1 \mid \text{Evidence}) = 0.588$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1095375" y="5184427"/>
            <a:ext cx="4562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(Query shows a high likelihood of disease given the compounded risk factors.)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572250" y="2736502"/>
            <a:ext cx="479059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Scenario 2: Young, Healthy ECG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572250" y="352707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Age $&lt;$ 40 AND ST\_Slope = Up AND Oldpeak $\le$ 0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572250" y="4431952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$P(\text{HeartDisease} = 1 \mid \text{Evidence}) = 0.265$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6572250" y="5184427"/>
            <a:ext cx="4562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(Protective factors significantly lower the estimated risk, providing transparent justification.)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3" name="Google Shape;23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273650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2736502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05517"/>
            <a:ext cx="5048250" cy="400005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1176337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Generative AI Application: Synthetic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762000" y="140583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a generative model, the BN can be used to simulate realistic patient data, a key application in ADSP.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778675" y="1763900"/>
            <a:ext cx="5300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Conditional Sampling (Rejection Sampling)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762000" y="2810220"/>
            <a:ext cx="5048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generated 1,000 synthetic patient profiles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conditioned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 evidence (e.g., Age $\ge$ 70) to model specific patient cohorts.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6667500" y="2791267"/>
            <a:ext cx="44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# Generating Synthetic Cohort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6667500" y="3177922"/>
            <a:ext cx="44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sampler = BayesianModelSampling(bn)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667500" y="3595087"/>
            <a:ext cx="44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synthetic_data = sampler.rejection_sample(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6858000" y="4012253"/>
            <a:ext cx="42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evidence=[('Age_bin', '&gt;=70')],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6858000" y="4429418"/>
            <a:ext cx="42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size=1000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6667500" y="4846583"/>
            <a:ext cx="44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6667500" y="5263748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&gt; Generated 1000 samples.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6667500" y="5741784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&gt; Empirical Risk: 47.6%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1047750" y="4006203"/>
            <a:ext cx="4762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Research Utility: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Augmenting small datasets for rare subgroups.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1047750" y="4867025"/>
            <a:ext cx="4762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Privacy Utility: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Sharing statistical properties of patient data without exposing real PHI (Protected Health Information).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047750" y="6063008"/>
            <a:ext cx="476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empirical risk (47.6%) derived from samples aligned with the analytical inference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7" name="Google Shape;2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443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10110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6830"/>
            <a:ext cx="10668000" cy="403056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 txBox="1"/>
          <p:nvPr/>
        </p:nvSpPr>
        <p:spPr>
          <a:xfrm>
            <a:off x="11791950" y="6505575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495300" y="6198393"/>
            <a:ext cx="11201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You. Q&amp;A.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1057275" y="2177355"/>
            <a:ext cx="1058132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057275" y="2967930"/>
            <a:ext cx="10077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Bayesian Network is the optimal model for this high-stakes task, providing an unparalleled combination of predictive power, robust calibration, and clinical transparency.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1" name="Google Shape;27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17735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 txBox="1"/>
          <p:nvPr/>
        </p:nvSpPr>
        <p:spPr>
          <a:xfrm>
            <a:off x="1343025" y="3849885"/>
            <a:ext cx="979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lang="en-US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Achieved AUC 0.916 with low calibration error (Brier 0.125).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1343025" y="4375546"/>
            <a:ext cx="979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nterpretability: Supports exact probabilistic queries for transparent decision-making.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1343025" y="4901207"/>
            <a:ext cx="979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Generative AI:</a:t>
            </a:r>
            <a:r>
              <a:rPr lang="en-US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Demonstrates utility in synthetic data generation for medical research.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5" name="Google Shape;27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8879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44136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493930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